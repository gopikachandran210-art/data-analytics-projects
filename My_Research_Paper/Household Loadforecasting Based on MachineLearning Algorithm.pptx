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9" r:id="rId10"/>
    <p:sldId id="266" r:id="rId11"/>
    <p:sldId id="267" r:id="rId12"/>
    <p:sldId id="270" r:id="rId13"/>
    <p:sldId id="274"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910A-617D-4E92-1924-357D66F290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799BC3-A346-33EC-79FC-6BA0F9C4E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397153-8E4C-B681-75D4-41FF1CD42578}"/>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5" name="Footer Placeholder 4">
            <a:extLst>
              <a:ext uri="{FF2B5EF4-FFF2-40B4-BE49-F238E27FC236}">
                <a16:creationId xmlns:a16="http://schemas.microsoft.com/office/drawing/2014/main" id="{D64ACB1B-AA71-2680-43E5-A55992125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D5E4ED-F1BD-333F-25C8-CD6D600F0484}"/>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3151247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89C7B-2C5D-2782-FAB5-E95EF9387E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838D2B-22A4-0BE9-8428-5FF29DBE2E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07C7B9-EE72-3B4E-80D9-84C08BAB6FEA}"/>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5" name="Footer Placeholder 4">
            <a:extLst>
              <a:ext uri="{FF2B5EF4-FFF2-40B4-BE49-F238E27FC236}">
                <a16:creationId xmlns:a16="http://schemas.microsoft.com/office/drawing/2014/main" id="{312FEC13-373D-120C-4F16-D2048626C9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0A1759-1352-E35C-17C7-CECD82498BF3}"/>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138498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8B1CD-F196-FED4-FB67-5D4774C33F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80C8127-DB7F-464F-3973-9DD56FF995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50DEF4-8118-F63F-5AEA-121A4284539E}"/>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5" name="Footer Placeholder 4">
            <a:extLst>
              <a:ext uri="{FF2B5EF4-FFF2-40B4-BE49-F238E27FC236}">
                <a16:creationId xmlns:a16="http://schemas.microsoft.com/office/drawing/2014/main" id="{0A66F697-C326-6C1F-9B11-602E790824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178F22-6CBE-8BDF-C474-FD579A114AE0}"/>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2642045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D1202-95DE-971C-DA35-6B0C0164D6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C8A5B1-5D65-4017-8AD3-F56F4DC92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1C1777-AB8C-A699-3067-EDC8D5C79F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74DF1E-EEA1-9858-AA65-687F1227A048}"/>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6" name="Footer Placeholder 5">
            <a:extLst>
              <a:ext uri="{FF2B5EF4-FFF2-40B4-BE49-F238E27FC236}">
                <a16:creationId xmlns:a16="http://schemas.microsoft.com/office/drawing/2014/main" id="{561A9D2E-841B-6C50-6062-0266D846DB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B19AC0-6A94-B7DF-F185-E8A7C1E89C43}"/>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68446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D70E-9201-EB25-FD89-8AC0765D48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530EF9-CF3A-BB99-02F3-6D373A9495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9B2640-2C3E-7F55-D06D-94EB990FE5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F89164-5B9B-4265-11ED-3714FF675C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D25F53-2B6B-F18B-4E67-E46F175D97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B54DE85-EF07-3623-1949-27901C0AEC73}"/>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8" name="Footer Placeholder 7">
            <a:extLst>
              <a:ext uri="{FF2B5EF4-FFF2-40B4-BE49-F238E27FC236}">
                <a16:creationId xmlns:a16="http://schemas.microsoft.com/office/drawing/2014/main" id="{1A03D5A6-E8F2-4336-5BEC-0D7604B379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1D3C78-B913-733F-6DE3-8B92B46DB80D}"/>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3136469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C58AF-AB69-04CA-CB4B-E5B8440A2A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388036-868E-07B1-A6A0-B671BE700469}"/>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4" name="Footer Placeholder 3">
            <a:extLst>
              <a:ext uri="{FF2B5EF4-FFF2-40B4-BE49-F238E27FC236}">
                <a16:creationId xmlns:a16="http://schemas.microsoft.com/office/drawing/2014/main" id="{D2D4E5A1-61AC-8643-2D30-4CE3CCDBD2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1251EF-41D2-4203-238C-55E07F47C81A}"/>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1751444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07A4E1-8C24-90AA-743F-581C0F3BA790}"/>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3" name="Footer Placeholder 2">
            <a:extLst>
              <a:ext uri="{FF2B5EF4-FFF2-40B4-BE49-F238E27FC236}">
                <a16:creationId xmlns:a16="http://schemas.microsoft.com/office/drawing/2014/main" id="{0D041747-8220-31A4-5389-E906BAB3B9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9DA2F8-3A23-049F-4FA6-385C23749C4A}"/>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3457830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6BC7-FD65-142E-EDDE-C83BB5FBFC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C725F6-D0F2-05D3-541B-5A2183EE26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DF55DF-764D-0DAF-EA45-9BA973AB6A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4DE15D-E209-AFC3-3092-177C412718E3}"/>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6" name="Footer Placeholder 5">
            <a:extLst>
              <a:ext uri="{FF2B5EF4-FFF2-40B4-BE49-F238E27FC236}">
                <a16:creationId xmlns:a16="http://schemas.microsoft.com/office/drawing/2014/main" id="{7E8CBC1C-BD16-C56A-92D0-BA458C9222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BC92AA-B305-828C-AA15-BC9BE8B6F73B}"/>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1540538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3738B-6545-D331-472E-58A6D81E9F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B15359-79AC-5CE3-91B8-6E5F3EA8CD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3E004A-C333-D79F-36F6-D6BAF91D22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361805-CB1C-C17E-458D-0566DBF8D77E}"/>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6" name="Footer Placeholder 5">
            <a:extLst>
              <a:ext uri="{FF2B5EF4-FFF2-40B4-BE49-F238E27FC236}">
                <a16:creationId xmlns:a16="http://schemas.microsoft.com/office/drawing/2014/main" id="{99149198-0154-7303-172B-987C5E3B73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5A1463-10F2-03A9-6FE9-80096C2C3B69}"/>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2132839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F7FCB-E418-D537-47EC-40491FFD34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FECCE6-AB00-1154-3AB9-0764A50BF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4EF98C-CD68-F498-126E-B2E0523B34FA}"/>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5" name="Footer Placeholder 4">
            <a:extLst>
              <a:ext uri="{FF2B5EF4-FFF2-40B4-BE49-F238E27FC236}">
                <a16:creationId xmlns:a16="http://schemas.microsoft.com/office/drawing/2014/main" id="{9CBC0D90-B873-AAAF-BC2E-5C5FE5E098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3533BD-13B2-7767-CD75-1283FEDA79C6}"/>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3121700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5EB735-0172-6C3F-5749-BB178D1E3C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95D667-99D9-2617-A459-DDF649C61C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4F573C-BD17-96B6-5A7B-1D872CF11662}"/>
              </a:ext>
            </a:extLst>
          </p:cNvPr>
          <p:cNvSpPr>
            <a:spLocks noGrp="1"/>
          </p:cNvSpPr>
          <p:nvPr>
            <p:ph type="dt" sz="half" idx="10"/>
          </p:nvPr>
        </p:nvSpPr>
        <p:spPr/>
        <p:txBody>
          <a:bodyPr/>
          <a:lstStyle/>
          <a:p>
            <a:fld id="{EA00604D-5762-4644-A440-278230E92D73}" type="datetimeFigureOut">
              <a:rPr lang="en-IN" smtClean="0"/>
              <a:t>11-05-2025</a:t>
            </a:fld>
            <a:endParaRPr lang="en-IN"/>
          </a:p>
        </p:txBody>
      </p:sp>
      <p:sp>
        <p:nvSpPr>
          <p:cNvPr id="5" name="Footer Placeholder 4">
            <a:extLst>
              <a:ext uri="{FF2B5EF4-FFF2-40B4-BE49-F238E27FC236}">
                <a16:creationId xmlns:a16="http://schemas.microsoft.com/office/drawing/2014/main" id="{5B8B13ED-3E3E-C181-8568-42607E6414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CE5298-6CCF-FBDB-8BD6-76CC60BDC863}"/>
              </a:ext>
            </a:extLst>
          </p:cNvPr>
          <p:cNvSpPr>
            <a:spLocks noGrp="1"/>
          </p:cNvSpPr>
          <p:nvPr>
            <p:ph type="sldNum" sz="quarter" idx="12"/>
          </p:nvPr>
        </p:nvSpPr>
        <p:spPr/>
        <p:txBody>
          <a:bodyPr/>
          <a:lstStyle/>
          <a:p>
            <a:fld id="{53799182-357D-4C7F-B7CD-2E2A55673454}" type="slidenum">
              <a:rPr lang="en-IN" smtClean="0"/>
              <a:t>‹#›</a:t>
            </a:fld>
            <a:endParaRPr lang="en-IN"/>
          </a:p>
        </p:txBody>
      </p:sp>
    </p:spTree>
    <p:extLst>
      <p:ext uri="{BB962C8B-B14F-4D97-AF65-F5344CB8AC3E}">
        <p14:creationId xmlns:p14="http://schemas.microsoft.com/office/powerpoint/2010/main" val="3983246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31B76A-F251-548C-CB93-31C694BC69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469298-985C-3896-711C-351B0AE579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5A1013-33DC-0406-5E0D-09F2C8CABC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00604D-5762-4644-A440-278230E92D73}" type="datetimeFigureOut">
              <a:rPr lang="en-IN" smtClean="0"/>
              <a:t>11-05-2025</a:t>
            </a:fld>
            <a:endParaRPr lang="en-IN"/>
          </a:p>
        </p:txBody>
      </p:sp>
      <p:sp>
        <p:nvSpPr>
          <p:cNvPr id="5" name="Footer Placeholder 4">
            <a:extLst>
              <a:ext uri="{FF2B5EF4-FFF2-40B4-BE49-F238E27FC236}">
                <a16:creationId xmlns:a16="http://schemas.microsoft.com/office/drawing/2014/main" id="{BAE6E095-8D7D-598B-EB43-32E38B383A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327659-AE22-8796-5FEF-843BDC19DD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799182-357D-4C7F-B7CD-2E2A55673454}" type="slidenum">
              <a:rPr lang="en-IN" smtClean="0"/>
              <a:t>‹#›</a:t>
            </a:fld>
            <a:endParaRPr lang="en-IN"/>
          </a:p>
        </p:txBody>
      </p:sp>
    </p:spTree>
    <p:extLst>
      <p:ext uri="{BB962C8B-B14F-4D97-AF65-F5344CB8AC3E}">
        <p14:creationId xmlns:p14="http://schemas.microsoft.com/office/powerpoint/2010/main" val="3826676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941E-94AE-E0C2-D4F8-941873C4E03A}"/>
              </a:ext>
            </a:extLst>
          </p:cNvPr>
          <p:cNvSpPr>
            <a:spLocks noGrp="1"/>
          </p:cNvSpPr>
          <p:nvPr>
            <p:ph type="ctrTitle"/>
          </p:nvPr>
        </p:nvSpPr>
        <p:spPr>
          <a:xfrm>
            <a:off x="1524000" y="1554983"/>
            <a:ext cx="9144000" cy="2387600"/>
          </a:xfrm>
        </p:spPr>
        <p:txBody>
          <a:bodyPr>
            <a:normAutofit fontScale="90000"/>
          </a:bodyPr>
          <a:lstStyle/>
          <a:p>
            <a:r>
              <a:rPr lang="en-IN" dirty="0">
                <a:latin typeface="+mn-lt"/>
              </a:rPr>
              <a:t>Household Load forecasting Based on Machine Learning Algorithm</a:t>
            </a:r>
          </a:p>
        </p:txBody>
      </p:sp>
    </p:spTree>
    <p:extLst>
      <p:ext uri="{BB962C8B-B14F-4D97-AF65-F5344CB8AC3E}">
        <p14:creationId xmlns:p14="http://schemas.microsoft.com/office/powerpoint/2010/main" val="736494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F2B8-BF04-6353-8F4D-8A95CDD518C0}"/>
              </a:ext>
            </a:extLst>
          </p:cNvPr>
          <p:cNvSpPr>
            <a:spLocks noGrp="1"/>
          </p:cNvSpPr>
          <p:nvPr>
            <p:ph type="title"/>
          </p:nvPr>
        </p:nvSpPr>
        <p:spPr/>
        <p:txBody>
          <a:bodyPr>
            <a:normAutofit/>
          </a:bodyPr>
          <a:lstStyle/>
          <a:p>
            <a:r>
              <a:rPr lang="en-IN" sz="3200" b="1" dirty="0"/>
              <a:t>Introduction</a:t>
            </a:r>
          </a:p>
        </p:txBody>
      </p:sp>
      <p:sp>
        <p:nvSpPr>
          <p:cNvPr id="3" name="Content Placeholder 2">
            <a:extLst>
              <a:ext uri="{FF2B5EF4-FFF2-40B4-BE49-F238E27FC236}">
                <a16:creationId xmlns:a16="http://schemas.microsoft.com/office/drawing/2014/main" id="{6A8BA1DA-A287-32A9-9B0B-29A6835E9D12}"/>
              </a:ext>
            </a:extLst>
          </p:cNvPr>
          <p:cNvSpPr>
            <a:spLocks noGrp="1"/>
          </p:cNvSpPr>
          <p:nvPr>
            <p:ph idx="1"/>
          </p:nvPr>
        </p:nvSpPr>
        <p:spPr>
          <a:xfrm>
            <a:off x="838200" y="1825625"/>
            <a:ext cx="10515600" cy="3287149"/>
          </a:xfrm>
        </p:spPr>
        <p:txBody>
          <a:bodyPr/>
          <a:lstStyle/>
          <a:p>
            <a:r>
              <a:rPr lang="en-IN" sz="2000" dirty="0"/>
              <a:t>Electric Load forecasting enables revenue load forecasting which facilitates power system energy trading, aids in scheduling operations.</a:t>
            </a:r>
          </a:p>
          <a:p>
            <a:endParaRPr lang="en-IN" sz="2000" dirty="0"/>
          </a:p>
          <a:p>
            <a:r>
              <a:rPr lang="en-IN" sz="2000" dirty="0"/>
              <a:t>Accurate Load forecasting using three modelling system such as LSTM(RNN),Prophet, SVR and ARIMA.</a:t>
            </a:r>
          </a:p>
          <a:p>
            <a:pPr marL="0" indent="0">
              <a:buNone/>
            </a:pPr>
            <a:endParaRPr lang="en-IN" sz="2000" dirty="0"/>
          </a:p>
          <a:p>
            <a:r>
              <a:rPr lang="en-GB" sz="2000" dirty="0">
                <a:effectLst/>
                <a:ea typeface="Calibri" panose="020F0502020204030204" pitchFamily="34" charset="0"/>
              </a:rPr>
              <a:t>The residential load short-term forecasting took place through transfer learning and meta-learning solutions.</a:t>
            </a:r>
          </a:p>
          <a:p>
            <a:endParaRPr lang="en-GB" sz="2000" dirty="0">
              <a:effectLst/>
              <a:ea typeface="Calibri" panose="020F0502020204030204" pitchFamily="34" charset="0"/>
            </a:endParaRPr>
          </a:p>
          <a:p>
            <a:pPr marL="0" indent="0">
              <a:buNone/>
            </a:pPr>
            <a:endParaRPr lang="en-IN" sz="2000" dirty="0"/>
          </a:p>
        </p:txBody>
      </p:sp>
    </p:spTree>
    <p:extLst>
      <p:ext uri="{BB962C8B-B14F-4D97-AF65-F5344CB8AC3E}">
        <p14:creationId xmlns:p14="http://schemas.microsoft.com/office/powerpoint/2010/main" val="550182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9F2F-6454-4F05-BB12-5367E0A5B0A5}"/>
              </a:ext>
            </a:extLst>
          </p:cNvPr>
          <p:cNvSpPr>
            <a:spLocks noGrp="1"/>
          </p:cNvSpPr>
          <p:nvPr>
            <p:ph type="title"/>
          </p:nvPr>
        </p:nvSpPr>
        <p:spPr>
          <a:xfrm>
            <a:off x="582562" y="500062"/>
            <a:ext cx="10515600" cy="1325563"/>
          </a:xfrm>
        </p:spPr>
        <p:txBody>
          <a:bodyPr>
            <a:normAutofit/>
          </a:bodyPr>
          <a:lstStyle/>
          <a:p>
            <a:r>
              <a:rPr lang="en-IN" sz="3200" b="1" dirty="0"/>
              <a:t>Model Selection</a:t>
            </a:r>
          </a:p>
        </p:txBody>
      </p:sp>
      <p:sp>
        <p:nvSpPr>
          <p:cNvPr id="3" name="Content Placeholder 2">
            <a:extLst>
              <a:ext uri="{FF2B5EF4-FFF2-40B4-BE49-F238E27FC236}">
                <a16:creationId xmlns:a16="http://schemas.microsoft.com/office/drawing/2014/main" id="{BD32B135-E577-3DB5-8954-E41B5E06E2C3}"/>
              </a:ext>
            </a:extLst>
          </p:cNvPr>
          <p:cNvSpPr>
            <a:spLocks noGrp="1"/>
          </p:cNvSpPr>
          <p:nvPr>
            <p:ph idx="1"/>
          </p:nvPr>
        </p:nvSpPr>
        <p:spPr>
          <a:xfrm>
            <a:off x="838200" y="1825625"/>
            <a:ext cx="10515600" cy="3552620"/>
          </a:xfrm>
        </p:spPr>
        <p:txBody>
          <a:bodyPr>
            <a:noAutofit/>
          </a:bodyPr>
          <a:lstStyle/>
          <a:p>
            <a:r>
              <a:rPr lang="en-IN" sz="2000" dirty="0">
                <a:effectLst/>
                <a:ea typeface="Calibri" panose="020F0502020204030204" pitchFamily="34" charset="0"/>
              </a:rPr>
              <a:t>The ARIMA and SVR function effectively yet they lack the ability to identify non-dynamic along with non-linear consumption patterns.</a:t>
            </a:r>
          </a:p>
          <a:p>
            <a:endParaRPr lang="en-IN" sz="2000" dirty="0">
              <a:ea typeface="Calibri" panose="020F0502020204030204" pitchFamily="34" charset="0"/>
            </a:endParaRPr>
          </a:p>
          <a:p>
            <a:r>
              <a:rPr lang="en-IN" sz="2000" dirty="0">
                <a:effectLst/>
                <a:ea typeface="Calibri" panose="020F0502020204030204" pitchFamily="34" charset="0"/>
              </a:rPr>
              <a:t>Neural Networks (NNs) represent the most researched forecasting method because they deliver superior accuracy levels.</a:t>
            </a:r>
          </a:p>
          <a:p>
            <a:pPr marL="0" indent="0">
              <a:buNone/>
            </a:pPr>
            <a:endParaRPr lang="en-IN" sz="2000" dirty="0">
              <a:ea typeface="Calibri" panose="020F0502020204030204" pitchFamily="34" charset="0"/>
            </a:endParaRPr>
          </a:p>
          <a:p>
            <a:r>
              <a:rPr lang="en-IN" sz="2000" dirty="0">
                <a:effectLst/>
                <a:ea typeface="Calibri" panose="020F0502020204030204" pitchFamily="34" charset="0"/>
              </a:rPr>
              <a:t>The issues of long-term dependency learning and forecasting performance optimization were solved by LSTM networks and deep recurrent neural networks.</a:t>
            </a:r>
          </a:p>
          <a:p>
            <a:endParaRPr lang="en-IN" sz="2000" dirty="0">
              <a:ea typeface="Calibri" panose="020F0502020204030204" pitchFamily="34" charset="0"/>
            </a:endParaRPr>
          </a:p>
          <a:p>
            <a:r>
              <a:rPr lang="en-IN" sz="2000" dirty="0"/>
              <a:t>Prophet is displays for holidays, trends and seasonality  </a:t>
            </a:r>
          </a:p>
        </p:txBody>
      </p:sp>
    </p:spTree>
    <p:extLst>
      <p:ext uri="{BB962C8B-B14F-4D97-AF65-F5344CB8AC3E}">
        <p14:creationId xmlns:p14="http://schemas.microsoft.com/office/powerpoint/2010/main" val="3573753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12E7A-85D9-A0F4-6396-6E88590F9BA7}"/>
              </a:ext>
            </a:extLst>
          </p:cNvPr>
          <p:cNvSpPr>
            <a:spLocks noGrp="1"/>
          </p:cNvSpPr>
          <p:nvPr>
            <p:ph type="title"/>
          </p:nvPr>
        </p:nvSpPr>
        <p:spPr/>
        <p:txBody>
          <a:bodyPr>
            <a:normAutofit/>
          </a:bodyPr>
          <a:lstStyle/>
          <a:p>
            <a:r>
              <a:rPr lang="en-IN" sz="3200" b="1" dirty="0"/>
              <a:t>Problem Statement</a:t>
            </a:r>
            <a:endParaRPr lang="en-IN" sz="3200" dirty="0"/>
          </a:p>
        </p:txBody>
      </p:sp>
      <p:sp>
        <p:nvSpPr>
          <p:cNvPr id="3" name="Content Placeholder 2">
            <a:extLst>
              <a:ext uri="{FF2B5EF4-FFF2-40B4-BE49-F238E27FC236}">
                <a16:creationId xmlns:a16="http://schemas.microsoft.com/office/drawing/2014/main" id="{999CF143-F031-2995-9279-8A1FF37BCD41}"/>
              </a:ext>
            </a:extLst>
          </p:cNvPr>
          <p:cNvSpPr>
            <a:spLocks noGrp="1"/>
          </p:cNvSpPr>
          <p:nvPr>
            <p:ph idx="1"/>
          </p:nvPr>
        </p:nvSpPr>
        <p:spPr/>
        <p:txBody>
          <a:bodyPr>
            <a:normAutofit/>
          </a:bodyPr>
          <a:lstStyle/>
          <a:p>
            <a:r>
              <a:rPr lang="en-IN" sz="2000" dirty="0">
                <a:effectLst/>
                <a:ea typeface="Calibri" panose="020F0502020204030204" pitchFamily="34" charset="0"/>
                <a:cs typeface="Times New Roman" panose="02020603050405020304" pitchFamily="18" charset="0"/>
              </a:rPr>
              <a:t>Research about incorporating renewable power sources into residential load prediction remains limited even after recent enhancements. </a:t>
            </a:r>
          </a:p>
          <a:p>
            <a:pPr marL="0" indent="0">
              <a:buNone/>
            </a:pPr>
            <a:endParaRPr lang="en-IN" sz="2000" dirty="0">
              <a:effectLst/>
              <a:ea typeface="Calibri" panose="020F0502020204030204" pitchFamily="34" charset="0"/>
              <a:cs typeface="Times New Roman" panose="02020603050405020304" pitchFamily="18" charset="0"/>
            </a:endParaRPr>
          </a:p>
          <a:p>
            <a:r>
              <a:rPr lang="en-IN" sz="2000" dirty="0">
                <a:effectLst/>
                <a:ea typeface="Calibri" panose="020F0502020204030204" pitchFamily="34" charset="0"/>
                <a:cs typeface="Times New Roman" panose="02020603050405020304" pitchFamily="18" charset="0"/>
              </a:rPr>
              <a:t>The research establishes a connection between deep learning-based load forecasting and renewable energy analysis by implementing renewable energy considerations. </a:t>
            </a:r>
            <a:endParaRPr lang="en-IN" sz="2000" dirty="0"/>
          </a:p>
        </p:txBody>
      </p:sp>
    </p:spTree>
    <p:extLst>
      <p:ext uri="{BB962C8B-B14F-4D97-AF65-F5344CB8AC3E}">
        <p14:creationId xmlns:p14="http://schemas.microsoft.com/office/powerpoint/2010/main" val="443314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E6303-B772-FEA3-B62C-F973AAC0E89C}"/>
              </a:ext>
            </a:extLst>
          </p:cNvPr>
          <p:cNvSpPr>
            <a:spLocks noGrp="1"/>
          </p:cNvSpPr>
          <p:nvPr>
            <p:ph type="title"/>
          </p:nvPr>
        </p:nvSpPr>
        <p:spPr>
          <a:xfrm>
            <a:off x="916858" y="815974"/>
            <a:ext cx="10515600" cy="1325563"/>
          </a:xfrm>
        </p:spPr>
        <p:txBody>
          <a:bodyPr/>
          <a:lstStyle/>
          <a:p>
            <a:r>
              <a:rPr lang="en-IN" sz="3200" b="1" dirty="0">
                <a:effectLst/>
                <a:latin typeface="Sitka Banner Semibold" pitchFamily="2" charset="0"/>
                <a:ea typeface="Times New Roman" panose="02020603050405020304" pitchFamily="18" charset="0"/>
                <a:cs typeface="Times New Roman" panose="02020603050405020304" pitchFamily="18" charset="0"/>
              </a:rPr>
              <a:t>Research Aim &amp; Objectives</a:t>
            </a:r>
            <a:b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72C7F2A-DF37-6AD3-F881-F96360DA777E}"/>
              </a:ext>
            </a:extLst>
          </p:cNvPr>
          <p:cNvSpPr>
            <a:spLocks noGrp="1"/>
          </p:cNvSpPr>
          <p:nvPr>
            <p:ph idx="1"/>
          </p:nvPr>
        </p:nvSpPr>
        <p:spPr>
          <a:xfrm>
            <a:off x="838200" y="1690688"/>
            <a:ext cx="10515600" cy="4351338"/>
          </a:xfrm>
        </p:spPr>
        <p:txBody>
          <a:bodyPr/>
          <a:lstStyle/>
          <a:p>
            <a:pPr marL="342900" indent="-342900" algn="just">
              <a:lnSpc>
                <a:spcPct val="150000"/>
              </a:lnSpc>
              <a:buFont typeface="Symbol" panose="05050102010706020507" pitchFamily="18" charset="2"/>
              <a:buChar char=""/>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Symbol" panose="05050102010706020507" pitchFamily="18" charset="2"/>
              <a:buChar char=""/>
            </a:pPr>
            <a:r>
              <a:rPr lang="en-IN" sz="2000" dirty="0">
                <a:effectLst/>
                <a:ea typeface="Calibri" panose="020F0502020204030204" pitchFamily="34" charset="0"/>
                <a:cs typeface="Times New Roman" panose="02020603050405020304" pitchFamily="18" charset="0"/>
              </a:rPr>
              <a:t>The aim of the study is to forecast of household load using advanced deep leaning models.</a:t>
            </a:r>
          </a:p>
          <a:p>
            <a:pPr marL="342900" lvl="0" indent="-342900" algn="just">
              <a:lnSpc>
                <a:spcPct val="150000"/>
              </a:lnSpc>
              <a:buFont typeface="Symbol" panose="05050102010706020507" pitchFamily="18" charset="2"/>
              <a:buChar char=""/>
            </a:pPr>
            <a:r>
              <a:rPr lang="en-IN" sz="2000" dirty="0">
                <a:effectLst/>
                <a:ea typeface="Calibri" panose="020F0502020204030204" pitchFamily="34" charset="0"/>
                <a:cs typeface="Times New Roman" panose="02020603050405020304" pitchFamily="18" charset="0"/>
              </a:rPr>
              <a:t>To use advanced deep learning model to forecast household load and optimize model’s efficiency and accuracy.</a:t>
            </a:r>
          </a:p>
          <a:p>
            <a:pPr marL="342900" lvl="0" indent="-342900" algn="just">
              <a:lnSpc>
                <a:spcPct val="150000"/>
              </a:lnSpc>
              <a:buFont typeface="Symbol" panose="05050102010706020507" pitchFamily="18" charset="2"/>
              <a:buChar char=""/>
            </a:pPr>
            <a:r>
              <a:rPr lang="en-IN" sz="2000" dirty="0">
                <a:effectLst/>
                <a:ea typeface="Calibri" panose="020F0502020204030204" pitchFamily="34" charset="0"/>
                <a:cs typeface="Times New Roman" panose="02020603050405020304" pitchFamily="18" charset="0"/>
              </a:rPr>
              <a:t>To compare different forecasting methodologies such as ARIMA, SVR, Prophet, and LSTM(RNN).</a:t>
            </a:r>
          </a:p>
          <a:p>
            <a:pPr marL="342900" lvl="0" indent="-342900" algn="just">
              <a:lnSpc>
                <a:spcPct val="150000"/>
              </a:lnSpc>
              <a:spcAft>
                <a:spcPts val="800"/>
              </a:spcAft>
              <a:buFont typeface="Symbol" panose="05050102010706020507" pitchFamily="18" charset="2"/>
              <a:buChar char=""/>
            </a:pPr>
            <a:r>
              <a:rPr lang="en-IN" sz="2000" dirty="0">
                <a:effectLst/>
                <a:ea typeface="Calibri" panose="020F0502020204030204" pitchFamily="34" charset="0"/>
                <a:cs typeface="Times New Roman" panose="02020603050405020304" pitchFamily="18" charset="0"/>
              </a:rPr>
              <a:t>To analyse the impact of the integration of renewable energy on forecasting accuracy.</a:t>
            </a:r>
          </a:p>
          <a:p>
            <a:endParaRPr lang="en-IN" dirty="0"/>
          </a:p>
        </p:txBody>
      </p:sp>
    </p:spTree>
    <p:extLst>
      <p:ext uri="{BB962C8B-B14F-4D97-AF65-F5344CB8AC3E}">
        <p14:creationId xmlns:p14="http://schemas.microsoft.com/office/powerpoint/2010/main" val="1235987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D81E-7520-03D1-5129-1C2DEAB2A094}"/>
              </a:ext>
            </a:extLst>
          </p:cNvPr>
          <p:cNvSpPr>
            <a:spLocks noGrp="1"/>
          </p:cNvSpPr>
          <p:nvPr>
            <p:ph type="title"/>
          </p:nvPr>
        </p:nvSpPr>
        <p:spPr/>
        <p:txBody>
          <a:bodyPr>
            <a:normAutofit/>
          </a:bodyPr>
          <a:lstStyle/>
          <a:p>
            <a:r>
              <a:rPr lang="en-IN" sz="3200" dirty="0"/>
              <a:t>Literature Review</a:t>
            </a:r>
          </a:p>
        </p:txBody>
      </p:sp>
      <p:sp>
        <p:nvSpPr>
          <p:cNvPr id="3" name="Content Placeholder 2">
            <a:extLst>
              <a:ext uri="{FF2B5EF4-FFF2-40B4-BE49-F238E27FC236}">
                <a16:creationId xmlns:a16="http://schemas.microsoft.com/office/drawing/2014/main" id="{9655C46B-AB87-5CAF-B0B6-5C1B83C6BFDF}"/>
              </a:ext>
            </a:extLst>
          </p:cNvPr>
          <p:cNvSpPr>
            <a:spLocks noGrp="1"/>
          </p:cNvSpPr>
          <p:nvPr>
            <p:ph idx="1"/>
          </p:nvPr>
        </p:nvSpPr>
        <p:spPr/>
        <p:txBody>
          <a:bodyPr>
            <a:noAutofit/>
          </a:bodyPr>
          <a:lstStyle/>
          <a:p>
            <a:r>
              <a:rPr lang="en-GB" sz="2000" dirty="0">
                <a:effectLst/>
                <a:ea typeface="Calibri" panose="020F0502020204030204" pitchFamily="34" charset="0"/>
              </a:rPr>
              <a:t>Examines existing research on load forecasting methodologies and their performance when forecasting energy consumption at the household level. </a:t>
            </a:r>
          </a:p>
          <a:p>
            <a:r>
              <a:rPr lang="en-GB" sz="2000" dirty="0">
                <a:effectLst/>
                <a:ea typeface="Calibri" panose="020F0502020204030204" pitchFamily="34" charset="0"/>
              </a:rPr>
              <a:t>The application of SARIMA extends ARIMA capabilities through seasonal trend inclusion for cases where daily or monthly electricity usage patterns need modelling.</a:t>
            </a:r>
          </a:p>
          <a:p>
            <a:endParaRPr lang="en-GB" sz="2000" dirty="0">
              <a:ea typeface="Calibri" panose="020F0502020204030204" pitchFamily="34" charset="0"/>
            </a:endParaRPr>
          </a:p>
          <a:p>
            <a:r>
              <a:rPr lang="en-GB" sz="2000" dirty="0">
                <a:effectLst/>
                <a:ea typeface="Calibri" panose="020F0502020204030204" pitchFamily="34" charset="0"/>
              </a:rPr>
              <a:t>Support Vector Regression (SVR) together with Linear Regression (LR) to establish links between independent factors of weather and time along with historical usage patterns thereby operate with multiple variables and provide higher flexibility than ARIMA models when dealing with non-linear patterns.</a:t>
            </a:r>
          </a:p>
          <a:p>
            <a:pPr marL="0" indent="0">
              <a:buNone/>
            </a:pPr>
            <a:endParaRPr lang="en-GB" sz="2000" dirty="0">
              <a:ea typeface="Calibri" panose="020F0502020204030204" pitchFamily="34" charset="0"/>
            </a:endParaRPr>
          </a:p>
          <a:p>
            <a:r>
              <a:rPr lang="en-IN" sz="2000" dirty="0">
                <a:effectLst/>
                <a:ea typeface="Times New Roman" panose="02020603050405020304" pitchFamily="18" charset="0"/>
              </a:rPr>
              <a:t>Standard models such as ARIMA and SVR are popular but cannot capture non-linearity and high volatility of residential electricity usage. Machine learning models such as SVM and ANN offer improvements in pattern identification but are not sufficient when capturing sequential dependencies</a:t>
            </a:r>
            <a:endParaRPr lang="en-IN" sz="2000" dirty="0"/>
          </a:p>
        </p:txBody>
      </p:sp>
    </p:spTree>
    <p:extLst>
      <p:ext uri="{BB962C8B-B14F-4D97-AF65-F5344CB8AC3E}">
        <p14:creationId xmlns:p14="http://schemas.microsoft.com/office/powerpoint/2010/main" val="3334894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2827-8CBF-D89A-4F77-6A0324D99F54}"/>
              </a:ext>
            </a:extLst>
          </p:cNvPr>
          <p:cNvSpPr>
            <a:spLocks noGrp="1"/>
          </p:cNvSpPr>
          <p:nvPr>
            <p:ph type="title"/>
          </p:nvPr>
        </p:nvSpPr>
        <p:spPr/>
        <p:txBody>
          <a:bodyPr>
            <a:normAutofit/>
          </a:bodyPr>
          <a:lstStyle/>
          <a:p>
            <a:r>
              <a:rPr lang="en-IN" sz="3200" dirty="0"/>
              <a:t>Methodology</a:t>
            </a:r>
          </a:p>
        </p:txBody>
      </p:sp>
      <p:sp>
        <p:nvSpPr>
          <p:cNvPr id="3" name="Content Placeholder 2">
            <a:extLst>
              <a:ext uri="{FF2B5EF4-FFF2-40B4-BE49-F238E27FC236}">
                <a16:creationId xmlns:a16="http://schemas.microsoft.com/office/drawing/2014/main" id="{6E40046E-EBEB-4BC5-8A2D-28999293F5D6}"/>
              </a:ext>
            </a:extLst>
          </p:cNvPr>
          <p:cNvSpPr>
            <a:spLocks noGrp="1"/>
          </p:cNvSpPr>
          <p:nvPr>
            <p:ph idx="1"/>
          </p:nvPr>
        </p:nvSpPr>
        <p:spPr/>
        <p:txBody>
          <a:bodyPr>
            <a:normAutofit/>
          </a:bodyPr>
          <a:lstStyle/>
          <a:p>
            <a:r>
              <a:rPr lang="en-GB" sz="2000" dirty="0">
                <a:ea typeface="Calibri" panose="020F0502020204030204" pitchFamily="34" charset="0"/>
              </a:rPr>
              <a:t>T</a:t>
            </a:r>
            <a:r>
              <a:rPr lang="en-GB" sz="2000" dirty="0">
                <a:effectLst/>
                <a:ea typeface="Calibri" panose="020F0502020204030204" pitchFamily="34" charset="0"/>
              </a:rPr>
              <a:t>his study </a:t>
            </a:r>
            <a:r>
              <a:rPr lang="en-GB" sz="2000" dirty="0">
                <a:ea typeface="Calibri" panose="020F0502020204030204" pitchFamily="34" charset="0"/>
              </a:rPr>
              <a:t>focusses to </a:t>
            </a:r>
            <a:r>
              <a:rPr lang="en-GB" sz="2000" dirty="0">
                <a:effectLst/>
                <a:ea typeface="Calibri" panose="020F0502020204030204" pitchFamily="34" charset="0"/>
              </a:rPr>
              <a:t>examine residential consumption patterns of electricity, predict future load profiles, and evaluate </a:t>
            </a:r>
            <a:r>
              <a:rPr lang="en-GB" sz="2000" dirty="0" err="1">
                <a:effectLst/>
                <a:ea typeface="Calibri" panose="020F0502020204030204" pitchFamily="34" charset="0"/>
              </a:rPr>
              <a:t>behavioral</a:t>
            </a:r>
            <a:r>
              <a:rPr lang="en-GB" sz="2000" dirty="0">
                <a:effectLst/>
                <a:ea typeface="Calibri" panose="020F0502020204030204" pitchFamily="34" charset="0"/>
              </a:rPr>
              <a:t> reactions to smart meter pilots based on pre- and post-survey data.</a:t>
            </a:r>
          </a:p>
          <a:p>
            <a:endParaRPr lang="en-GB" sz="2000" dirty="0">
              <a:ea typeface="Calibri" panose="020F0502020204030204" pitchFamily="34" charset="0"/>
            </a:endParaRPr>
          </a:p>
          <a:p>
            <a:r>
              <a:rPr lang="en-GB" sz="2000" dirty="0">
                <a:effectLst/>
                <a:ea typeface="Calibri" panose="020F0502020204030204" pitchFamily="34" charset="0"/>
              </a:rPr>
              <a:t>The methodology combines quantitative data analysis with qualitative analysis based on survey data through sophisticated data processing, time-series forecasting methodologies, and visualization to extract actionable insights.</a:t>
            </a:r>
            <a:endParaRPr lang="en-IN" sz="2000" dirty="0"/>
          </a:p>
        </p:txBody>
      </p:sp>
    </p:spTree>
    <p:extLst>
      <p:ext uri="{BB962C8B-B14F-4D97-AF65-F5344CB8AC3E}">
        <p14:creationId xmlns:p14="http://schemas.microsoft.com/office/powerpoint/2010/main" val="4262102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C05D7-ED84-87CA-2206-6495CFE59176}"/>
              </a:ext>
            </a:extLst>
          </p:cNvPr>
          <p:cNvSpPr>
            <a:spLocks noGrp="1"/>
          </p:cNvSpPr>
          <p:nvPr>
            <p:ph type="title"/>
          </p:nvPr>
        </p:nvSpPr>
        <p:spPr/>
        <p:txBody>
          <a:bodyPr>
            <a:normAutofit/>
          </a:bodyPr>
          <a:lstStyle/>
          <a:p>
            <a:r>
              <a:rPr lang="en-IN" sz="3200" dirty="0"/>
              <a:t>Data Collection</a:t>
            </a:r>
          </a:p>
        </p:txBody>
      </p:sp>
      <p:sp>
        <p:nvSpPr>
          <p:cNvPr id="3" name="Content Placeholder 2">
            <a:extLst>
              <a:ext uri="{FF2B5EF4-FFF2-40B4-BE49-F238E27FC236}">
                <a16:creationId xmlns:a16="http://schemas.microsoft.com/office/drawing/2014/main" id="{C89A939A-2EF6-F50C-7AC0-E4AFBEE92C0A}"/>
              </a:ext>
            </a:extLst>
          </p:cNvPr>
          <p:cNvSpPr>
            <a:spLocks noGrp="1"/>
          </p:cNvSpPr>
          <p:nvPr>
            <p:ph idx="1"/>
          </p:nvPr>
        </p:nvSpPr>
        <p:spPr/>
        <p:txBody>
          <a:bodyPr/>
          <a:lstStyle/>
          <a:p>
            <a:r>
              <a:rPr lang="en-IN" sz="2000" dirty="0"/>
              <a:t>The dataset consist power consumption of households starting from 2009 January to 2010 June, </a:t>
            </a:r>
            <a:r>
              <a:rPr lang="en-GB" sz="2000" dirty="0">
                <a:effectLst/>
                <a:ea typeface="Calibri" panose="020F0502020204030204" pitchFamily="34" charset="0"/>
              </a:rPr>
              <a:t>saved in six individual files in text format, each representing a subset of total homes or time frame.</a:t>
            </a:r>
          </a:p>
          <a:p>
            <a:endParaRPr lang="en-GB" sz="2000" dirty="0">
              <a:ea typeface="Calibri" panose="020F0502020204030204" pitchFamily="34" charset="0"/>
            </a:endParaRPr>
          </a:p>
          <a:p>
            <a:r>
              <a:rPr lang="en-GB" sz="2000" dirty="0">
                <a:ea typeface="Calibri" panose="020F0502020204030204" pitchFamily="34" charset="0"/>
              </a:rPr>
              <a:t>T</a:t>
            </a:r>
            <a:r>
              <a:rPr lang="en-GB" sz="2000" dirty="0">
                <a:effectLst/>
                <a:ea typeface="Calibri" panose="020F0502020204030204" pitchFamily="34" charset="0"/>
              </a:rPr>
              <a:t>he study entailed two standardized surveys aimed at assessing </a:t>
            </a:r>
            <a:r>
              <a:rPr lang="en-GB" sz="2000" dirty="0" err="1">
                <a:effectLst/>
                <a:ea typeface="Calibri" panose="020F0502020204030204" pitchFamily="34" charset="0"/>
              </a:rPr>
              <a:t>behavioral</a:t>
            </a:r>
            <a:r>
              <a:rPr lang="en-GB" sz="2000" dirty="0">
                <a:effectLst/>
                <a:ea typeface="Calibri" panose="020F0502020204030204" pitchFamily="34" charset="0"/>
              </a:rPr>
              <a:t> reactions to the installation of intelligent meters. </a:t>
            </a:r>
          </a:p>
          <a:p>
            <a:endParaRPr lang="en-GB" sz="2000" dirty="0">
              <a:effectLst/>
              <a:ea typeface="Calibri" panose="020F0502020204030204" pitchFamily="34" charset="0"/>
            </a:endParaRPr>
          </a:p>
          <a:p>
            <a:pPr marL="342900" indent="-342900">
              <a:buAutoNum type="arabicPeriod"/>
            </a:pPr>
            <a:r>
              <a:rPr lang="en-GB" sz="2000" b="1" dirty="0">
                <a:effectLst/>
                <a:ea typeface="Calibri" panose="020F0502020204030204" pitchFamily="34" charset="0"/>
                <a:cs typeface="Times New Roman" panose="02020603050405020304" pitchFamily="18" charset="0"/>
              </a:rPr>
              <a:t>Pre-trial Survey:</a:t>
            </a:r>
            <a:r>
              <a:rPr lang="en-GB" sz="2000" dirty="0">
                <a:effectLst/>
                <a:ea typeface="Calibri" panose="020F0502020204030204" pitchFamily="34" charset="0"/>
                <a:cs typeface="Times New Roman" panose="02020603050405020304" pitchFamily="18" charset="0"/>
              </a:rPr>
              <a:t> The survey was carried out prior to installing smart meters to set baseline attitudes towards energy use, desire to adopt energy-saving habits, familiarity with renewable sources such as solar panels, and overall energy habits.</a:t>
            </a:r>
          </a:p>
          <a:p>
            <a:pPr marL="342900" indent="-342900">
              <a:buAutoNum type="arabicPeriod"/>
            </a:pPr>
            <a:r>
              <a:rPr lang="en-GB" sz="2000" b="1" dirty="0">
                <a:effectLst/>
                <a:ea typeface="Calibri" panose="020F0502020204030204" pitchFamily="34" charset="0"/>
              </a:rPr>
              <a:t>Post-trial Survey: </a:t>
            </a:r>
            <a:r>
              <a:rPr lang="en-GB" sz="2000" dirty="0">
                <a:effectLst/>
                <a:ea typeface="Calibri" panose="020F0502020204030204" pitchFamily="34" charset="0"/>
              </a:rPr>
              <a:t>Conducted after a certain duration of experience with smart metering, it measured changes in </a:t>
            </a:r>
            <a:r>
              <a:rPr lang="en-GB" sz="2000" dirty="0" err="1">
                <a:effectLst/>
                <a:ea typeface="Calibri" panose="020F0502020204030204" pitchFamily="34" charset="0"/>
              </a:rPr>
              <a:t>behavioral</a:t>
            </a:r>
            <a:r>
              <a:rPr lang="en-GB" sz="2000" dirty="0">
                <a:effectLst/>
                <a:ea typeface="Calibri" panose="020F0502020204030204" pitchFamily="34" charset="0"/>
              </a:rPr>
              <a:t> habits, attitudes, and awareness on energy consumption representing the effect of the trial of the smart meter</a:t>
            </a:r>
            <a:endParaRPr lang="en-GB" sz="2000" dirty="0">
              <a:effectLst/>
              <a:ea typeface="Calibri" panose="020F0502020204030204" pitchFamily="34" charset="0"/>
              <a:cs typeface="Times New Roman" panose="02020603050405020304" pitchFamily="18" charset="0"/>
            </a:endParaRPr>
          </a:p>
          <a:p>
            <a:pPr marL="0" indent="0">
              <a:buNone/>
            </a:pPr>
            <a:endParaRPr lang="en-GB"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79785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AB94-7FF1-EF7A-D14C-6275A6BA29D7}"/>
              </a:ext>
            </a:extLst>
          </p:cNvPr>
          <p:cNvSpPr>
            <a:spLocks noGrp="1"/>
          </p:cNvSpPr>
          <p:nvPr>
            <p:ph type="title"/>
          </p:nvPr>
        </p:nvSpPr>
        <p:spPr/>
        <p:txBody>
          <a:bodyPr/>
          <a:lstStyle/>
          <a:p>
            <a:r>
              <a:rPr lang="en-IN" dirty="0"/>
              <a:t>Architecture</a:t>
            </a:r>
          </a:p>
        </p:txBody>
      </p:sp>
      <p:sp>
        <p:nvSpPr>
          <p:cNvPr id="6" name="Oval 5">
            <a:extLst>
              <a:ext uri="{FF2B5EF4-FFF2-40B4-BE49-F238E27FC236}">
                <a16:creationId xmlns:a16="http://schemas.microsoft.com/office/drawing/2014/main" id="{19EB5F92-F565-8212-18EB-735E161FABE3}"/>
              </a:ext>
            </a:extLst>
          </p:cNvPr>
          <p:cNvSpPr/>
          <p:nvPr/>
        </p:nvSpPr>
        <p:spPr>
          <a:xfrm>
            <a:off x="4790768" y="1543435"/>
            <a:ext cx="1759974" cy="4424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Begin</a:t>
            </a:r>
          </a:p>
        </p:txBody>
      </p:sp>
      <p:cxnSp>
        <p:nvCxnSpPr>
          <p:cNvPr id="8" name="Straight Arrow Connector 7">
            <a:extLst>
              <a:ext uri="{FF2B5EF4-FFF2-40B4-BE49-F238E27FC236}">
                <a16:creationId xmlns:a16="http://schemas.microsoft.com/office/drawing/2014/main" id="{931D829C-A125-CB91-0458-4BD1BFF183E5}"/>
              </a:ext>
            </a:extLst>
          </p:cNvPr>
          <p:cNvCxnSpPr/>
          <p:nvPr/>
        </p:nvCxnSpPr>
        <p:spPr>
          <a:xfrm>
            <a:off x="5687961" y="1985886"/>
            <a:ext cx="0" cy="294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366591A-415A-DCE6-C7DF-A91532F0B6B2}"/>
              </a:ext>
            </a:extLst>
          </p:cNvPr>
          <p:cNvSpPr/>
          <p:nvPr/>
        </p:nvSpPr>
        <p:spPr>
          <a:xfrm>
            <a:off x="4879258" y="2339968"/>
            <a:ext cx="1582993" cy="442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Smart Meter Data</a:t>
            </a:r>
          </a:p>
        </p:txBody>
      </p:sp>
      <p:sp>
        <p:nvSpPr>
          <p:cNvPr id="10" name="Oval 9">
            <a:extLst>
              <a:ext uri="{FF2B5EF4-FFF2-40B4-BE49-F238E27FC236}">
                <a16:creationId xmlns:a16="http://schemas.microsoft.com/office/drawing/2014/main" id="{07C49526-440C-6ED8-0CD6-A99F7AB4B6ED}"/>
              </a:ext>
            </a:extLst>
          </p:cNvPr>
          <p:cNvSpPr/>
          <p:nvPr/>
        </p:nvSpPr>
        <p:spPr>
          <a:xfrm>
            <a:off x="5017037" y="3258526"/>
            <a:ext cx="1435507" cy="4424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Time Series</a:t>
            </a:r>
          </a:p>
        </p:txBody>
      </p:sp>
      <p:sp>
        <p:nvSpPr>
          <p:cNvPr id="13" name="Oval 12">
            <a:extLst>
              <a:ext uri="{FF2B5EF4-FFF2-40B4-BE49-F238E27FC236}">
                <a16:creationId xmlns:a16="http://schemas.microsoft.com/office/drawing/2014/main" id="{1B1F77E7-A49B-963F-C278-6BFF198CCFB1}"/>
              </a:ext>
            </a:extLst>
          </p:cNvPr>
          <p:cNvSpPr/>
          <p:nvPr/>
        </p:nvSpPr>
        <p:spPr>
          <a:xfrm>
            <a:off x="3320848" y="5322390"/>
            <a:ext cx="1418302" cy="4424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Prophet</a:t>
            </a:r>
          </a:p>
        </p:txBody>
      </p:sp>
      <p:sp>
        <p:nvSpPr>
          <p:cNvPr id="16" name="Oval 15">
            <a:extLst>
              <a:ext uri="{FF2B5EF4-FFF2-40B4-BE49-F238E27FC236}">
                <a16:creationId xmlns:a16="http://schemas.microsoft.com/office/drawing/2014/main" id="{C249AE79-90B8-EA26-F763-A7E0077A8328}"/>
              </a:ext>
            </a:extLst>
          </p:cNvPr>
          <p:cNvSpPr/>
          <p:nvPr/>
        </p:nvSpPr>
        <p:spPr>
          <a:xfrm>
            <a:off x="4950544" y="5330863"/>
            <a:ext cx="1209368" cy="4424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LSTM</a:t>
            </a:r>
          </a:p>
        </p:txBody>
      </p:sp>
      <p:sp>
        <p:nvSpPr>
          <p:cNvPr id="17" name="Oval 16">
            <a:extLst>
              <a:ext uri="{FF2B5EF4-FFF2-40B4-BE49-F238E27FC236}">
                <a16:creationId xmlns:a16="http://schemas.microsoft.com/office/drawing/2014/main" id="{2DE0C72E-2CE9-BB0A-BD90-53D3040FE929}"/>
              </a:ext>
            </a:extLst>
          </p:cNvPr>
          <p:cNvSpPr/>
          <p:nvPr/>
        </p:nvSpPr>
        <p:spPr>
          <a:xfrm>
            <a:off x="6327056" y="5327305"/>
            <a:ext cx="1209368" cy="4424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SVM</a:t>
            </a:r>
          </a:p>
        </p:txBody>
      </p:sp>
      <p:sp>
        <p:nvSpPr>
          <p:cNvPr id="18" name="Oval 17">
            <a:extLst>
              <a:ext uri="{FF2B5EF4-FFF2-40B4-BE49-F238E27FC236}">
                <a16:creationId xmlns:a16="http://schemas.microsoft.com/office/drawing/2014/main" id="{9478AE88-5CD5-D8E8-BAAD-213A781A3E3E}"/>
              </a:ext>
            </a:extLst>
          </p:cNvPr>
          <p:cNvSpPr/>
          <p:nvPr/>
        </p:nvSpPr>
        <p:spPr>
          <a:xfrm>
            <a:off x="7747818" y="5322389"/>
            <a:ext cx="1209368" cy="4424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ARIMA</a:t>
            </a:r>
          </a:p>
        </p:txBody>
      </p:sp>
      <p:cxnSp>
        <p:nvCxnSpPr>
          <p:cNvPr id="34" name="Straight Arrow Connector 33">
            <a:extLst>
              <a:ext uri="{FF2B5EF4-FFF2-40B4-BE49-F238E27FC236}">
                <a16:creationId xmlns:a16="http://schemas.microsoft.com/office/drawing/2014/main" id="{D2094DD6-C230-78AA-1C67-777F7343F254}"/>
              </a:ext>
            </a:extLst>
          </p:cNvPr>
          <p:cNvCxnSpPr>
            <a:cxnSpLocks/>
          </p:cNvCxnSpPr>
          <p:nvPr/>
        </p:nvCxnSpPr>
        <p:spPr>
          <a:xfrm>
            <a:off x="5651089" y="2487942"/>
            <a:ext cx="36872" cy="762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6B450931-9CE5-7EB9-7774-0E44B939041C}"/>
              </a:ext>
            </a:extLst>
          </p:cNvPr>
          <p:cNvSpPr/>
          <p:nvPr/>
        </p:nvSpPr>
        <p:spPr>
          <a:xfrm>
            <a:off x="4916131" y="4091879"/>
            <a:ext cx="1509249" cy="4424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Aggregate raw data</a:t>
            </a:r>
          </a:p>
        </p:txBody>
      </p:sp>
      <p:cxnSp>
        <p:nvCxnSpPr>
          <p:cNvPr id="39" name="Straight Arrow Connector 38">
            <a:extLst>
              <a:ext uri="{FF2B5EF4-FFF2-40B4-BE49-F238E27FC236}">
                <a16:creationId xmlns:a16="http://schemas.microsoft.com/office/drawing/2014/main" id="{01BCB778-5E2F-742F-16B4-1B2C0A0FE421}"/>
              </a:ext>
            </a:extLst>
          </p:cNvPr>
          <p:cNvCxnSpPr>
            <a:cxnSpLocks/>
          </p:cNvCxnSpPr>
          <p:nvPr/>
        </p:nvCxnSpPr>
        <p:spPr>
          <a:xfrm flipH="1">
            <a:off x="5653548" y="3700977"/>
            <a:ext cx="36871" cy="408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CEA338A8-E254-C35C-3F30-0C884EA2400F}"/>
              </a:ext>
            </a:extLst>
          </p:cNvPr>
          <p:cNvCxnSpPr>
            <a:cxnSpLocks/>
          </p:cNvCxnSpPr>
          <p:nvPr/>
        </p:nvCxnSpPr>
        <p:spPr>
          <a:xfrm rot="5400000">
            <a:off x="3978681" y="4377112"/>
            <a:ext cx="1137483" cy="73742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5908951-9383-8368-C821-B9A340E82E79}"/>
              </a:ext>
            </a:extLst>
          </p:cNvPr>
          <p:cNvCxnSpPr>
            <a:cxnSpLocks/>
            <a:stCxn id="35" idx="2"/>
          </p:cNvCxnSpPr>
          <p:nvPr/>
        </p:nvCxnSpPr>
        <p:spPr>
          <a:xfrm rot="16200000" flipH="1">
            <a:off x="5273888" y="4931198"/>
            <a:ext cx="857772" cy="640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8E86657F-BDD9-C11C-7B45-77B7AC042B29}"/>
              </a:ext>
            </a:extLst>
          </p:cNvPr>
          <p:cNvCxnSpPr>
            <a:cxnSpLocks/>
            <a:endCxn id="17" idx="1"/>
          </p:cNvCxnSpPr>
          <p:nvPr/>
        </p:nvCxnSpPr>
        <p:spPr>
          <a:xfrm rot="16200000" flipH="1">
            <a:off x="5881030" y="4768965"/>
            <a:ext cx="857769" cy="3885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94EF7507-2BE3-A8EA-40D8-8E9742C13939}"/>
              </a:ext>
            </a:extLst>
          </p:cNvPr>
          <p:cNvCxnSpPr>
            <a:cxnSpLocks/>
            <a:stCxn id="35" idx="3"/>
            <a:endCxn id="18" idx="0"/>
          </p:cNvCxnSpPr>
          <p:nvPr/>
        </p:nvCxnSpPr>
        <p:spPr>
          <a:xfrm>
            <a:off x="6425380" y="4313105"/>
            <a:ext cx="1927122" cy="10092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C183E936-F3B6-5852-D2B3-5B38C301CBB1}"/>
              </a:ext>
            </a:extLst>
          </p:cNvPr>
          <p:cNvSpPr/>
          <p:nvPr/>
        </p:nvSpPr>
        <p:spPr>
          <a:xfrm>
            <a:off x="4950543" y="6125497"/>
            <a:ext cx="2030359" cy="48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Forecasting Results</a:t>
            </a:r>
          </a:p>
        </p:txBody>
      </p:sp>
      <p:cxnSp>
        <p:nvCxnSpPr>
          <p:cNvPr id="63" name="Connector: Elbow 62">
            <a:extLst>
              <a:ext uri="{FF2B5EF4-FFF2-40B4-BE49-F238E27FC236}">
                <a16:creationId xmlns:a16="http://schemas.microsoft.com/office/drawing/2014/main" id="{5AD7C55F-4817-96CA-F390-9A72EDB1DC80}"/>
              </a:ext>
            </a:extLst>
          </p:cNvPr>
          <p:cNvCxnSpPr>
            <a:endCxn id="48" idx="2"/>
          </p:cNvCxnSpPr>
          <p:nvPr/>
        </p:nvCxnSpPr>
        <p:spPr>
          <a:xfrm>
            <a:off x="4178711" y="5764840"/>
            <a:ext cx="771832" cy="60311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80DBC5-C099-B9D7-D7C7-B4BD7A1BB775}"/>
              </a:ext>
            </a:extLst>
          </p:cNvPr>
          <p:cNvCxnSpPr>
            <a:stCxn id="16" idx="4"/>
          </p:cNvCxnSpPr>
          <p:nvPr/>
        </p:nvCxnSpPr>
        <p:spPr>
          <a:xfrm rot="16200000" flipH="1">
            <a:off x="5389411" y="5939130"/>
            <a:ext cx="373418" cy="4178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31396387-DF7D-9FBC-779C-C20AB2374A2E}"/>
              </a:ext>
            </a:extLst>
          </p:cNvPr>
          <p:cNvCxnSpPr/>
          <p:nvPr/>
        </p:nvCxnSpPr>
        <p:spPr>
          <a:xfrm rot="5400000">
            <a:off x="6413194" y="5785499"/>
            <a:ext cx="373419" cy="34904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30511752-D6F8-4C43-CD5B-60F23D830483}"/>
              </a:ext>
            </a:extLst>
          </p:cNvPr>
          <p:cNvCxnSpPr>
            <a:stCxn id="18" idx="4"/>
            <a:endCxn id="48" idx="6"/>
          </p:cNvCxnSpPr>
          <p:nvPr/>
        </p:nvCxnSpPr>
        <p:spPr>
          <a:xfrm rot="5400000">
            <a:off x="7365144" y="5380598"/>
            <a:ext cx="603117" cy="13716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0836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A773A-F740-B8B7-297B-BA438504FE5B}"/>
              </a:ext>
            </a:extLst>
          </p:cNvPr>
          <p:cNvSpPr>
            <a:spLocks noGrp="1"/>
          </p:cNvSpPr>
          <p:nvPr>
            <p:ph type="title"/>
          </p:nvPr>
        </p:nvSpPr>
        <p:spPr/>
        <p:txBody>
          <a:bodyPr>
            <a:normAutofit/>
          </a:bodyPr>
          <a:lstStyle/>
          <a:p>
            <a:r>
              <a:rPr lang="en-IN" sz="3200" dirty="0"/>
              <a:t>Data Cleaning</a:t>
            </a:r>
          </a:p>
        </p:txBody>
      </p:sp>
      <p:sp>
        <p:nvSpPr>
          <p:cNvPr id="3" name="Content Placeholder 2">
            <a:extLst>
              <a:ext uri="{FF2B5EF4-FFF2-40B4-BE49-F238E27FC236}">
                <a16:creationId xmlns:a16="http://schemas.microsoft.com/office/drawing/2014/main" id="{AD57D7B2-6681-FFCD-C861-8EDC8B6824BB}"/>
              </a:ext>
            </a:extLst>
          </p:cNvPr>
          <p:cNvSpPr>
            <a:spLocks noGrp="1"/>
          </p:cNvSpPr>
          <p:nvPr>
            <p:ph idx="1"/>
          </p:nvPr>
        </p:nvSpPr>
        <p:spPr/>
        <p:txBody>
          <a:bodyPr/>
          <a:lstStyle/>
          <a:p>
            <a:pPr marL="0" indent="0">
              <a:buNone/>
            </a:pPr>
            <a:endParaRPr lang="en-GB" sz="1800" dirty="0">
              <a:latin typeface="Times New Roman" panose="02020603050405020304" pitchFamily="18" charset="0"/>
              <a:ea typeface="Calibri" panose="020F0502020204030204" pitchFamily="34" charset="0"/>
            </a:endParaRPr>
          </a:p>
          <a:p>
            <a:r>
              <a:rPr lang="en-GB" sz="2000" b="1" dirty="0">
                <a:effectLst/>
                <a:ea typeface="Calibri" panose="020F0502020204030204" pitchFamily="34" charset="0"/>
              </a:rPr>
              <a:t>Data Type Convert:</a:t>
            </a:r>
            <a:r>
              <a:rPr lang="en-GB" sz="2000" dirty="0">
                <a:effectLst/>
                <a:ea typeface="Calibri" panose="020F0502020204030204" pitchFamily="34" charset="0"/>
              </a:rPr>
              <a:t> The readings of consumed values were initially taken as strings and converted to numerical data that can be utilized for arithmetic. String-formatted date and time fields were also converted into pandas datetime objects. </a:t>
            </a:r>
          </a:p>
          <a:p>
            <a:pPr marL="0" indent="0">
              <a:buNone/>
            </a:pPr>
            <a:endParaRPr lang="en-GB" sz="2000" dirty="0">
              <a:effectLst/>
              <a:ea typeface="Calibri" panose="020F0502020204030204" pitchFamily="34" charset="0"/>
            </a:endParaRPr>
          </a:p>
          <a:p>
            <a:r>
              <a:rPr lang="en-GB" sz="2000" b="1" dirty="0">
                <a:effectLst/>
                <a:ea typeface="Calibri" panose="020F0502020204030204" pitchFamily="34" charset="0"/>
              </a:rPr>
              <a:t>Renamed Headers:</a:t>
            </a:r>
            <a:r>
              <a:rPr lang="en-GB" sz="2000" dirty="0">
                <a:effectLst/>
                <a:ea typeface="Calibri" panose="020F0502020204030204" pitchFamily="34" charset="0"/>
              </a:rPr>
              <a:t> For readability and to ease understanding of the purpose, cryptic or nondescript headers were renamed to descriptive headers.</a:t>
            </a:r>
          </a:p>
          <a:p>
            <a:endParaRPr lang="en-GB" sz="2000" dirty="0">
              <a:ea typeface="Calibri" panose="020F0502020204030204" pitchFamily="34" charset="0"/>
            </a:endParaRPr>
          </a:p>
          <a:p>
            <a:r>
              <a:rPr lang="en-GB" sz="2000" b="1" dirty="0">
                <a:effectLst/>
                <a:ea typeface="Calibri" panose="020F0502020204030204" pitchFamily="34" charset="0"/>
              </a:rPr>
              <a:t>Date Indexing: </a:t>
            </a:r>
            <a:r>
              <a:rPr lang="en-GB" sz="2000" dirty="0">
                <a:effectLst/>
                <a:ea typeface="Calibri" panose="020F0502020204030204" pitchFamily="34" charset="0"/>
              </a:rPr>
              <a:t>The data underwent indexing to handle time-based functions such as trend examinations and rolling mean calculations and forecast production through the date column. </a:t>
            </a:r>
            <a:endParaRPr lang="en-IN" sz="2000" dirty="0"/>
          </a:p>
        </p:txBody>
      </p:sp>
    </p:spTree>
    <p:extLst>
      <p:ext uri="{BB962C8B-B14F-4D97-AF65-F5344CB8AC3E}">
        <p14:creationId xmlns:p14="http://schemas.microsoft.com/office/powerpoint/2010/main" val="835452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2B59E-319A-B0C9-217F-0215CD8E02AF}"/>
              </a:ext>
            </a:extLst>
          </p:cNvPr>
          <p:cNvSpPr>
            <a:spLocks noGrp="1"/>
          </p:cNvSpPr>
          <p:nvPr>
            <p:ph type="title"/>
          </p:nvPr>
        </p:nvSpPr>
        <p:spPr/>
        <p:txBody>
          <a:bodyPr>
            <a:normAutofit/>
          </a:bodyPr>
          <a:lstStyle/>
          <a:p>
            <a:r>
              <a:rPr lang="en-IN" sz="3200" dirty="0"/>
              <a:t>Data Visualisation</a:t>
            </a:r>
          </a:p>
        </p:txBody>
      </p:sp>
      <p:sp>
        <p:nvSpPr>
          <p:cNvPr id="3" name="Content Placeholder 2">
            <a:extLst>
              <a:ext uri="{FF2B5EF4-FFF2-40B4-BE49-F238E27FC236}">
                <a16:creationId xmlns:a16="http://schemas.microsoft.com/office/drawing/2014/main" id="{08AB745C-A288-6277-0AF1-16B3770DA04D}"/>
              </a:ext>
            </a:extLst>
          </p:cNvPr>
          <p:cNvSpPr>
            <a:spLocks noGrp="1"/>
          </p:cNvSpPr>
          <p:nvPr>
            <p:ph idx="1"/>
          </p:nvPr>
        </p:nvSpPr>
        <p:spPr/>
        <p:txBody>
          <a:bodyPr>
            <a:normAutofit/>
          </a:bodyPr>
          <a:lstStyle/>
          <a:p>
            <a:r>
              <a:rPr lang="en-IN" sz="2000" dirty="0">
                <a:effectLst/>
                <a:ea typeface="Calibri" panose="020F0502020204030204" pitchFamily="34" charset="0"/>
              </a:rPr>
              <a:t>Daily load line charts over time display long-term trends like increasing or decreasing consumption that may be due to seasonal changes or behavioural patterns, which is helpful for seeing week-to-week, month-to-month, or year-to-year </a:t>
            </a:r>
            <a:r>
              <a:rPr lang="en-IN" sz="2000" dirty="0" err="1">
                <a:effectLst/>
                <a:ea typeface="Calibri" panose="020F0502020204030204" pitchFamily="34" charset="0"/>
              </a:rPr>
              <a:t>behavior</a:t>
            </a:r>
            <a:r>
              <a:rPr lang="en-IN" sz="2000" dirty="0">
                <a:effectLst/>
                <a:ea typeface="Calibri" panose="020F0502020204030204" pitchFamily="34" charset="0"/>
              </a:rPr>
              <a:t>.</a:t>
            </a:r>
          </a:p>
          <a:p>
            <a:endParaRPr lang="en-IN" sz="2000" dirty="0">
              <a:ea typeface="Calibri" panose="020F0502020204030204" pitchFamily="34" charset="0"/>
            </a:endParaRPr>
          </a:p>
          <a:p>
            <a:r>
              <a:rPr lang="en-IN" sz="2000" dirty="0">
                <a:effectLst/>
                <a:ea typeface="Calibri" panose="020F0502020204030204" pitchFamily="34" charset="0"/>
              </a:rPr>
              <a:t>The boxplot method helps identify unexpected high or low consumption patterns because they might signal measurement mistakes or specific unusual events.</a:t>
            </a:r>
            <a:endParaRPr lang="en-IN" sz="2000" dirty="0"/>
          </a:p>
        </p:txBody>
      </p:sp>
      <p:pic>
        <p:nvPicPr>
          <p:cNvPr id="4" name="Content Placeholder 4">
            <a:extLst>
              <a:ext uri="{FF2B5EF4-FFF2-40B4-BE49-F238E27FC236}">
                <a16:creationId xmlns:a16="http://schemas.microsoft.com/office/drawing/2014/main" id="{B14CC61B-A85D-84AA-3F42-0DCF42940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884" y="4001294"/>
            <a:ext cx="9674942" cy="2011393"/>
          </a:xfrm>
          <a:prstGeom prst="rect">
            <a:avLst/>
          </a:prstGeom>
        </p:spPr>
      </p:pic>
    </p:spTree>
    <p:extLst>
      <p:ext uri="{BB962C8B-B14F-4D97-AF65-F5344CB8AC3E}">
        <p14:creationId xmlns:p14="http://schemas.microsoft.com/office/powerpoint/2010/main" val="3259771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95B26-12DB-108E-3E06-3843B5778BDA}"/>
              </a:ext>
            </a:extLst>
          </p:cNvPr>
          <p:cNvSpPr>
            <a:spLocks noGrp="1"/>
          </p:cNvSpPr>
          <p:nvPr>
            <p:ph type="title"/>
          </p:nvPr>
        </p:nvSpPr>
        <p:spPr/>
        <p:txBody>
          <a:bodyPr/>
          <a:lstStyle/>
          <a:p>
            <a:r>
              <a:rPr lang="en-IN" dirty="0"/>
              <a:t>Results</a:t>
            </a:r>
          </a:p>
        </p:txBody>
      </p:sp>
      <p:pic>
        <p:nvPicPr>
          <p:cNvPr id="8" name="Picture 7">
            <a:extLst>
              <a:ext uri="{FF2B5EF4-FFF2-40B4-BE49-F238E27FC236}">
                <a16:creationId xmlns:a16="http://schemas.microsoft.com/office/drawing/2014/main" id="{B4E1AC9F-D34C-BD52-139C-6D82BC101E67}"/>
              </a:ext>
            </a:extLst>
          </p:cNvPr>
          <p:cNvPicPr>
            <a:picLocks noChangeAspect="1"/>
          </p:cNvPicPr>
          <p:nvPr/>
        </p:nvPicPr>
        <p:blipFill>
          <a:blip r:embed="rId2"/>
          <a:stretch>
            <a:fillRect/>
          </a:stretch>
        </p:blipFill>
        <p:spPr>
          <a:xfrm>
            <a:off x="747252" y="1540922"/>
            <a:ext cx="10903973" cy="2067518"/>
          </a:xfrm>
          <a:prstGeom prst="rect">
            <a:avLst/>
          </a:prstGeom>
        </p:spPr>
      </p:pic>
      <p:pic>
        <p:nvPicPr>
          <p:cNvPr id="10" name="Picture 9">
            <a:extLst>
              <a:ext uri="{FF2B5EF4-FFF2-40B4-BE49-F238E27FC236}">
                <a16:creationId xmlns:a16="http://schemas.microsoft.com/office/drawing/2014/main" id="{0528AB67-05E8-E898-EFF7-396BB172BC48}"/>
              </a:ext>
            </a:extLst>
          </p:cNvPr>
          <p:cNvPicPr>
            <a:picLocks noChangeAspect="1"/>
          </p:cNvPicPr>
          <p:nvPr/>
        </p:nvPicPr>
        <p:blipFill>
          <a:blip r:embed="rId3"/>
          <a:stretch>
            <a:fillRect/>
          </a:stretch>
        </p:blipFill>
        <p:spPr>
          <a:xfrm>
            <a:off x="747252" y="3746090"/>
            <a:ext cx="10903973" cy="1866392"/>
          </a:xfrm>
          <a:prstGeom prst="rect">
            <a:avLst/>
          </a:prstGeom>
        </p:spPr>
      </p:pic>
    </p:spTree>
    <p:extLst>
      <p:ext uri="{BB962C8B-B14F-4D97-AF65-F5344CB8AC3E}">
        <p14:creationId xmlns:p14="http://schemas.microsoft.com/office/powerpoint/2010/main" val="1127269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57D2-27CC-AF5D-1635-1E2620327E5B}"/>
              </a:ext>
            </a:extLst>
          </p:cNvPr>
          <p:cNvSpPr>
            <a:spLocks noGrp="1"/>
          </p:cNvSpPr>
          <p:nvPr>
            <p:ph type="title"/>
          </p:nvPr>
        </p:nvSpPr>
        <p:spPr/>
        <p:txBody>
          <a:bodyPr/>
          <a:lstStyle/>
          <a:p>
            <a:r>
              <a:rPr lang="en-IN" dirty="0"/>
              <a:t>Results</a:t>
            </a:r>
          </a:p>
        </p:txBody>
      </p:sp>
      <p:graphicFrame>
        <p:nvGraphicFramePr>
          <p:cNvPr id="4" name="Content Placeholder 3">
            <a:extLst>
              <a:ext uri="{FF2B5EF4-FFF2-40B4-BE49-F238E27FC236}">
                <a16:creationId xmlns:a16="http://schemas.microsoft.com/office/drawing/2014/main" id="{EEE9F3DD-66EE-8196-E5E7-E1590AD1C011}"/>
              </a:ext>
            </a:extLst>
          </p:cNvPr>
          <p:cNvGraphicFramePr>
            <a:graphicFrameLocks noGrp="1"/>
          </p:cNvGraphicFramePr>
          <p:nvPr>
            <p:ph idx="1"/>
            <p:extLst>
              <p:ext uri="{D42A27DB-BD31-4B8C-83A1-F6EECF244321}">
                <p14:modId xmlns:p14="http://schemas.microsoft.com/office/powerpoint/2010/main" val="1814812567"/>
              </p:ext>
            </p:extLst>
          </p:nvPr>
        </p:nvGraphicFramePr>
        <p:xfrm>
          <a:off x="838200" y="1825625"/>
          <a:ext cx="10515600" cy="3002016"/>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813013203"/>
                    </a:ext>
                  </a:extLst>
                </a:gridCol>
                <a:gridCol w="2103120">
                  <a:extLst>
                    <a:ext uri="{9D8B030D-6E8A-4147-A177-3AD203B41FA5}">
                      <a16:colId xmlns:a16="http://schemas.microsoft.com/office/drawing/2014/main" val="3489437571"/>
                    </a:ext>
                  </a:extLst>
                </a:gridCol>
                <a:gridCol w="2103120">
                  <a:extLst>
                    <a:ext uri="{9D8B030D-6E8A-4147-A177-3AD203B41FA5}">
                      <a16:colId xmlns:a16="http://schemas.microsoft.com/office/drawing/2014/main" val="3699109951"/>
                    </a:ext>
                  </a:extLst>
                </a:gridCol>
                <a:gridCol w="2103120">
                  <a:extLst>
                    <a:ext uri="{9D8B030D-6E8A-4147-A177-3AD203B41FA5}">
                      <a16:colId xmlns:a16="http://schemas.microsoft.com/office/drawing/2014/main" val="312738052"/>
                    </a:ext>
                  </a:extLst>
                </a:gridCol>
                <a:gridCol w="2103120">
                  <a:extLst>
                    <a:ext uri="{9D8B030D-6E8A-4147-A177-3AD203B41FA5}">
                      <a16:colId xmlns:a16="http://schemas.microsoft.com/office/drawing/2014/main" val="310400242"/>
                    </a:ext>
                  </a:extLst>
                </a:gridCol>
              </a:tblGrid>
              <a:tr h="750504">
                <a:tc>
                  <a:txBody>
                    <a:bodyPr/>
                    <a:lstStyle/>
                    <a:p>
                      <a:r>
                        <a:rPr lang="en-IN" dirty="0"/>
                        <a:t>Metrics</a:t>
                      </a:r>
                    </a:p>
                  </a:txBody>
                  <a:tcPr/>
                </a:tc>
                <a:tc>
                  <a:txBody>
                    <a:bodyPr/>
                    <a:lstStyle/>
                    <a:p>
                      <a:r>
                        <a:rPr lang="en-IN" dirty="0"/>
                        <a:t>SVR</a:t>
                      </a:r>
                    </a:p>
                  </a:txBody>
                  <a:tcPr/>
                </a:tc>
                <a:tc>
                  <a:txBody>
                    <a:bodyPr/>
                    <a:lstStyle/>
                    <a:p>
                      <a:r>
                        <a:rPr lang="en-IN" dirty="0"/>
                        <a:t>RNN(LSTM)</a:t>
                      </a:r>
                    </a:p>
                  </a:txBody>
                  <a:tcPr/>
                </a:tc>
                <a:tc>
                  <a:txBody>
                    <a:bodyPr/>
                    <a:lstStyle/>
                    <a:p>
                      <a:r>
                        <a:rPr lang="en-IN" dirty="0"/>
                        <a:t>ARIMA</a:t>
                      </a:r>
                    </a:p>
                  </a:txBody>
                  <a:tcPr/>
                </a:tc>
                <a:tc>
                  <a:txBody>
                    <a:bodyPr/>
                    <a:lstStyle/>
                    <a:p>
                      <a:r>
                        <a:rPr lang="en-IN" dirty="0"/>
                        <a:t>Prophet</a:t>
                      </a:r>
                    </a:p>
                  </a:txBody>
                  <a:tcPr/>
                </a:tc>
                <a:extLst>
                  <a:ext uri="{0D108BD9-81ED-4DB2-BD59-A6C34878D82A}">
                    <a16:rowId xmlns:a16="http://schemas.microsoft.com/office/drawing/2014/main" val="3258084320"/>
                  </a:ext>
                </a:extLst>
              </a:tr>
              <a:tr h="750504">
                <a:tc>
                  <a:txBody>
                    <a:bodyPr/>
                    <a:lstStyle/>
                    <a:p>
                      <a:r>
                        <a:rPr lang="en-IN" dirty="0"/>
                        <a:t>RMSE</a:t>
                      </a:r>
                    </a:p>
                  </a:txBody>
                  <a:tcPr/>
                </a:tc>
                <a:tc>
                  <a:txBody>
                    <a:bodyPr/>
                    <a:lstStyle/>
                    <a:p>
                      <a:r>
                        <a:rPr lang="en-IN" dirty="0"/>
                        <a:t>106681.52</a:t>
                      </a:r>
                    </a:p>
                  </a:txBody>
                  <a:tcPr/>
                </a:tc>
                <a:tc>
                  <a:txBody>
                    <a:bodyPr/>
                    <a:lstStyle/>
                    <a:p>
                      <a:r>
                        <a:rPr lang="en-IN" dirty="0"/>
                        <a:t>44181.73</a:t>
                      </a:r>
                    </a:p>
                  </a:txBody>
                  <a:tcPr/>
                </a:tc>
                <a:tc>
                  <a:txBody>
                    <a:bodyPr/>
                    <a:lstStyle/>
                    <a:p>
                      <a:r>
                        <a:rPr lang="en-IN" dirty="0"/>
                        <a:t>36795.48</a:t>
                      </a:r>
                    </a:p>
                  </a:txBody>
                  <a:tcPr/>
                </a:tc>
                <a:tc>
                  <a:txBody>
                    <a:bodyPr/>
                    <a:lstStyle/>
                    <a:p>
                      <a:r>
                        <a:rPr lang="en-IN" dirty="0"/>
                        <a:t>36616.96</a:t>
                      </a:r>
                    </a:p>
                  </a:txBody>
                  <a:tcPr/>
                </a:tc>
                <a:extLst>
                  <a:ext uri="{0D108BD9-81ED-4DB2-BD59-A6C34878D82A}">
                    <a16:rowId xmlns:a16="http://schemas.microsoft.com/office/drawing/2014/main" val="3958135887"/>
                  </a:ext>
                </a:extLst>
              </a:tr>
              <a:tr h="750504">
                <a:tc>
                  <a:txBody>
                    <a:bodyPr/>
                    <a:lstStyle/>
                    <a:p>
                      <a:r>
                        <a:rPr lang="en-IN" dirty="0"/>
                        <a:t>MAE</a:t>
                      </a:r>
                    </a:p>
                  </a:txBody>
                  <a:tcPr/>
                </a:tc>
                <a:tc>
                  <a:txBody>
                    <a:bodyPr/>
                    <a:lstStyle/>
                    <a:p>
                      <a:r>
                        <a:rPr lang="en-IN" dirty="0"/>
                        <a:t>97055.74</a:t>
                      </a:r>
                    </a:p>
                  </a:txBody>
                  <a:tcPr/>
                </a:tc>
                <a:tc>
                  <a:txBody>
                    <a:bodyPr/>
                    <a:lstStyle/>
                    <a:p>
                      <a:r>
                        <a:rPr lang="en-IN" dirty="0"/>
                        <a:t>35847.24</a:t>
                      </a:r>
                    </a:p>
                  </a:txBody>
                  <a:tcPr/>
                </a:tc>
                <a:tc>
                  <a:txBody>
                    <a:bodyPr/>
                    <a:lstStyle/>
                    <a:p>
                      <a:r>
                        <a:rPr lang="en-IN" dirty="0"/>
                        <a:t>27288.84</a:t>
                      </a:r>
                    </a:p>
                  </a:txBody>
                  <a:tcPr/>
                </a:tc>
                <a:tc>
                  <a:txBody>
                    <a:bodyPr/>
                    <a:lstStyle/>
                    <a:p>
                      <a:r>
                        <a:rPr lang="en-IN" dirty="0"/>
                        <a:t>31219.83</a:t>
                      </a:r>
                    </a:p>
                  </a:txBody>
                  <a:tcPr/>
                </a:tc>
                <a:extLst>
                  <a:ext uri="{0D108BD9-81ED-4DB2-BD59-A6C34878D82A}">
                    <a16:rowId xmlns:a16="http://schemas.microsoft.com/office/drawing/2014/main" val="1421197674"/>
                  </a:ext>
                </a:extLst>
              </a:tr>
              <a:tr h="750504">
                <a:tc>
                  <a:txBody>
                    <a:bodyPr/>
                    <a:lstStyle/>
                    <a:p>
                      <a:r>
                        <a:rPr lang="en-IN" dirty="0"/>
                        <a:t>NRMSE</a:t>
                      </a:r>
                    </a:p>
                  </a:txBody>
                  <a:tcPr/>
                </a:tc>
                <a:tc>
                  <a:txBody>
                    <a:bodyPr/>
                    <a:lstStyle/>
                    <a:p>
                      <a:r>
                        <a:rPr lang="en-IN" dirty="0"/>
                        <a:t>0.9721</a:t>
                      </a:r>
                    </a:p>
                  </a:txBody>
                  <a:tcPr/>
                </a:tc>
                <a:tc>
                  <a:txBody>
                    <a:bodyPr/>
                    <a:lstStyle/>
                    <a:p>
                      <a:r>
                        <a:rPr lang="en-IN" dirty="0"/>
                        <a:t>.4026</a:t>
                      </a:r>
                    </a:p>
                  </a:txBody>
                  <a:tcPr/>
                </a:tc>
                <a:tc>
                  <a:txBody>
                    <a:bodyPr/>
                    <a:lstStyle/>
                    <a:p>
                      <a:r>
                        <a:rPr lang="en-IN" dirty="0"/>
                        <a:t>.3353</a:t>
                      </a:r>
                    </a:p>
                  </a:txBody>
                  <a:tcPr/>
                </a:tc>
                <a:tc>
                  <a:txBody>
                    <a:bodyPr/>
                    <a:lstStyle/>
                    <a:p>
                      <a:r>
                        <a:rPr lang="en-IN" dirty="0"/>
                        <a:t>.361005</a:t>
                      </a:r>
                    </a:p>
                  </a:txBody>
                  <a:tcPr/>
                </a:tc>
                <a:extLst>
                  <a:ext uri="{0D108BD9-81ED-4DB2-BD59-A6C34878D82A}">
                    <a16:rowId xmlns:a16="http://schemas.microsoft.com/office/drawing/2014/main" val="1425755605"/>
                  </a:ext>
                </a:extLst>
              </a:tr>
            </a:tbl>
          </a:graphicData>
        </a:graphic>
      </p:graphicFrame>
    </p:spTree>
    <p:extLst>
      <p:ext uri="{BB962C8B-B14F-4D97-AF65-F5344CB8AC3E}">
        <p14:creationId xmlns:p14="http://schemas.microsoft.com/office/powerpoint/2010/main" val="1628915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08AC-9181-E2E0-760B-0E0D1AB0771A}"/>
              </a:ext>
            </a:extLst>
          </p:cNvPr>
          <p:cNvSpPr>
            <a:spLocks noGrp="1"/>
          </p:cNvSpPr>
          <p:nvPr>
            <p:ph type="title"/>
          </p:nvPr>
        </p:nvSpPr>
        <p:spPr/>
        <p:txBody>
          <a:bodyPr>
            <a:normAutofit/>
          </a:bodyPr>
          <a:lstStyle/>
          <a:p>
            <a:r>
              <a:rPr lang="en-IN" sz="3200" dirty="0"/>
              <a:t>Conclusion</a:t>
            </a:r>
          </a:p>
        </p:txBody>
      </p:sp>
      <p:sp>
        <p:nvSpPr>
          <p:cNvPr id="3" name="Content Placeholder 2">
            <a:extLst>
              <a:ext uri="{FF2B5EF4-FFF2-40B4-BE49-F238E27FC236}">
                <a16:creationId xmlns:a16="http://schemas.microsoft.com/office/drawing/2014/main" id="{8FAAA4F5-7A35-3B43-529D-EA2CD5229706}"/>
              </a:ext>
            </a:extLst>
          </p:cNvPr>
          <p:cNvSpPr>
            <a:spLocks noGrp="1"/>
          </p:cNvSpPr>
          <p:nvPr>
            <p:ph idx="1"/>
          </p:nvPr>
        </p:nvSpPr>
        <p:spPr/>
        <p:txBody>
          <a:bodyPr/>
          <a:lstStyle/>
          <a:p>
            <a:r>
              <a:rPr lang="en-GB" sz="2000" dirty="0">
                <a:effectLst/>
                <a:ea typeface="Calibri" panose="020F0502020204030204" pitchFamily="34" charset="0"/>
                <a:cs typeface="Times New Roman" panose="02020603050405020304" pitchFamily="18" charset="0"/>
              </a:rPr>
              <a:t>This research aimed to investigate household electricity load prediction with state-of-the-art deep learning models and compare these against traditional statistical models, and investigate how renewable energy incorporation impacts prediction accuracy. </a:t>
            </a:r>
          </a:p>
          <a:p>
            <a:pPr marL="0" indent="0">
              <a:buNone/>
            </a:pPr>
            <a:endParaRPr lang="en-GB" sz="2000" dirty="0">
              <a:effectLst/>
              <a:ea typeface="Calibri" panose="020F0502020204030204" pitchFamily="34" charset="0"/>
              <a:cs typeface="Times New Roman" panose="02020603050405020304" pitchFamily="18" charset="0"/>
            </a:endParaRPr>
          </a:p>
          <a:p>
            <a:r>
              <a:rPr lang="en-GB" sz="2000" dirty="0">
                <a:effectLst/>
                <a:ea typeface="Calibri" panose="020F0502020204030204" pitchFamily="34" charset="0"/>
                <a:cs typeface="Times New Roman" panose="02020603050405020304" pitchFamily="18" charset="0"/>
              </a:rPr>
              <a:t>The research also used survey-based </a:t>
            </a:r>
            <a:r>
              <a:rPr lang="en-GB" sz="2000" dirty="0" err="1">
                <a:effectLst/>
                <a:ea typeface="Calibri" panose="020F0502020204030204" pitchFamily="34" charset="0"/>
                <a:cs typeface="Times New Roman" panose="02020603050405020304" pitchFamily="18" charset="0"/>
              </a:rPr>
              <a:t>behavioral</a:t>
            </a:r>
            <a:r>
              <a:rPr lang="en-GB" sz="2000" dirty="0">
                <a:effectLst/>
                <a:ea typeface="Calibri" panose="020F0502020204030204" pitchFamily="34" charset="0"/>
                <a:cs typeface="Times New Roman" panose="02020603050405020304" pitchFamily="18" charset="0"/>
              </a:rPr>
              <a:t> insights to determine the people aspect of energy usage patterns and smart energy technology adoption. </a:t>
            </a:r>
          </a:p>
          <a:p>
            <a:pPr marL="0" indent="0">
              <a:buNone/>
            </a:pPr>
            <a:endParaRPr lang="en-GB" sz="2000" dirty="0">
              <a:effectLst/>
              <a:ea typeface="Calibri" panose="020F0502020204030204" pitchFamily="34" charset="0"/>
              <a:cs typeface="Times New Roman" panose="02020603050405020304" pitchFamily="18" charset="0"/>
            </a:endParaRPr>
          </a:p>
          <a:p>
            <a:r>
              <a:rPr lang="en-GB" sz="2000" dirty="0">
                <a:effectLst/>
                <a:ea typeface="Calibri" panose="020F0502020204030204" pitchFamily="34" charset="0"/>
                <a:cs typeface="Times New Roman" panose="02020603050405020304" pitchFamily="18" charset="0"/>
              </a:rPr>
              <a:t>The findings uncover several major conclusions that are relevant to both the research area of energy forecasting and the day-to-day practices of utility companies, policymakers, and energy managers.</a:t>
            </a:r>
            <a:endParaRPr lang="en-IN" sz="2000" dirty="0">
              <a:effectLs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04952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16FF-1EA4-1B5D-2C71-68F0B2A0C4DF}"/>
              </a:ext>
            </a:extLst>
          </p:cNvPr>
          <p:cNvSpPr>
            <a:spLocks noGrp="1"/>
          </p:cNvSpPr>
          <p:nvPr>
            <p:ph type="title"/>
          </p:nvPr>
        </p:nvSpPr>
        <p:spPr/>
        <p:txBody>
          <a:bodyPr/>
          <a:lstStyle/>
          <a:p>
            <a:r>
              <a:rPr lang="en-GB" sz="3200" b="1" dirty="0">
                <a:effectLst/>
                <a:ea typeface="Times New Roman" panose="02020603050405020304" pitchFamily="18" charset="0"/>
                <a:cs typeface="Times New Roman" panose="02020603050405020304" pitchFamily="18" charset="0"/>
              </a:rPr>
              <a:t>Limitations and Areas for Future Research</a:t>
            </a:r>
            <a:b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1BBE0CD-F506-5250-90E2-87132CDA62B7}"/>
              </a:ext>
            </a:extLst>
          </p:cNvPr>
          <p:cNvSpPr>
            <a:spLocks noGrp="1"/>
          </p:cNvSpPr>
          <p:nvPr>
            <p:ph idx="1"/>
          </p:nvPr>
        </p:nvSpPr>
        <p:spPr/>
        <p:txBody>
          <a:bodyPr>
            <a:normAutofit fontScale="85000" lnSpcReduction="10000"/>
          </a:bodyPr>
          <a:lstStyle/>
          <a:p>
            <a:pPr algn="just">
              <a:lnSpc>
                <a:spcPct val="150000"/>
              </a:lnSpc>
              <a:spcAft>
                <a:spcPts val="800"/>
              </a:spcAft>
              <a:buNone/>
            </a:pPr>
            <a:r>
              <a:rPr lang="en-GB" sz="2000" b="1" dirty="0">
                <a:effectLst/>
                <a:ea typeface="Calibri" panose="020F0502020204030204" pitchFamily="34" charset="0"/>
                <a:cs typeface="Times New Roman" panose="02020603050405020304" pitchFamily="18" charset="0"/>
              </a:rPr>
              <a:t>Data integration:</a:t>
            </a:r>
            <a:r>
              <a:rPr lang="en-GB" sz="2000" dirty="0">
                <a:effectLst/>
                <a:ea typeface="Calibri" panose="020F0502020204030204" pitchFamily="34" charset="0"/>
                <a:cs typeface="Times New Roman" panose="02020603050405020304" pitchFamily="18" charset="0"/>
              </a:rPr>
              <a:t> Time series </a:t>
            </a:r>
            <a:r>
              <a:rPr lang="en-GB" sz="2000" dirty="0" err="1">
                <a:effectLst/>
                <a:ea typeface="Calibri" panose="020F0502020204030204" pitchFamily="34" charset="0"/>
                <a:cs typeface="Times New Roman" panose="02020603050405020304" pitchFamily="18" charset="0"/>
              </a:rPr>
              <a:t>modeling</a:t>
            </a:r>
            <a:r>
              <a:rPr lang="en-GB" sz="2000" dirty="0">
                <a:effectLst/>
                <a:ea typeface="Calibri" panose="020F0502020204030204" pitchFamily="34" charset="0"/>
                <a:cs typeface="Times New Roman" panose="02020603050405020304" pitchFamily="18" charset="0"/>
              </a:rPr>
              <a:t> integrated with </a:t>
            </a:r>
            <a:r>
              <a:rPr lang="en-GB" sz="2000" dirty="0" err="1">
                <a:effectLst/>
                <a:ea typeface="Calibri" panose="020F0502020204030204" pitchFamily="34" charset="0"/>
                <a:cs typeface="Times New Roman" panose="02020603050405020304" pitchFamily="18" charset="0"/>
              </a:rPr>
              <a:t>behavior</a:t>
            </a:r>
            <a:r>
              <a:rPr lang="en-GB" sz="2000" dirty="0">
                <a:effectLst/>
                <a:ea typeface="Calibri" panose="020F0502020204030204" pitchFamily="34" charset="0"/>
                <a:cs typeface="Times New Roman" panose="02020603050405020304" pitchFamily="18" charset="0"/>
              </a:rPr>
              <a:t>, environment, and policy data will produce more complete and actionable predictions.</a:t>
            </a:r>
            <a:endParaRPr lang="en-IN" sz="2000" dirty="0">
              <a:effectLst/>
              <a:ea typeface="Calibri" panose="020F0502020204030204" pitchFamily="34" charset="0"/>
              <a:cs typeface="Times New Roman" panose="02020603050405020304" pitchFamily="18" charset="0"/>
            </a:endParaRPr>
          </a:p>
          <a:p>
            <a:pPr algn="just">
              <a:lnSpc>
                <a:spcPct val="150000"/>
              </a:lnSpc>
              <a:spcAft>
                <a:spcPts val="800"/>
              </a:spcAft>
              <a:buNone/>
            </a:pPr>
            <a:r>
              <a:rPr lang="en-GB" sz="2000" b="1" dirty="0">
                <a:effectLst/>
                <a:ea typeface="Calibri" panose="020F0502020204030204" pitchFamily="34" charset="0"/>
                <a:cs typeface="Times New Roman" panose="02020603050405020304" pitchFamily="18" charset="0"/>
              </a:rPr>
              <a:t>Consumer participation:</a:t>
            </a:r>
            <a:r>
              <a:rPr lang="en-GB" sz="2000" dirty="0">
                <a:effectLst/>
                <a:ea typeface="Calibri" panose="020F0502020204030204" pitchFamily="34" charset="0"/>
                <a:cs typeface="Times New Roman" panose="02020603050405020304" pitchFamily="18" charset="0"/>
              </a:rPr>
              <a:t> Taking advantage of the strong propensity to change </a:t>
            </a:r>
            <a:r>
              <a:rPr lang="en-GB" sz="2000" dirty="0" err="1">
                <a:effectLst/>
                <a:ea typeface="Calibri" panose="020F0502020204030204" pitchFamily="34" charset="0"/>
                <a:cs typeface="Times New Roman" panose="02020603050405020304" pitchFamily="18" charset="0"/>
              </a:rPr>
              <a:t>behavior</a:t>
            </a:r>
            <a:r>
              <a:rPr lang="en-GB" sz="2000" dirty="0">
                <a:effectLst/>
                <a:ea typeface="Calibri" panose="020F0502020204030204" pitchFamily="34" charset="0"/>
                <a:cs typeface="Times New Roman" panose="02020603050405020304" pitchFamily="18" charset="0"/>
              </a:rPr>
              <a:t>, utility companies can use smart feedback systems, gamification, and customized incentives in order to induce energy savings.</a:t>
            </a:r>
            <a:endParaRPr lang="en-IN" sz="2000" dirty="0">
              <a:effectLst/>
              <a:ea typeface="Calibri" panose="020F0502020204030204" pitchFamily="34" charset="0"/>
              <a:cs typeface="Times New Roman" panose="02020603050405020304" pitchFamily="18" charset="0"/>
            </a:endParaRPr>
          </a:p>
          <a:p>
            <a:pPr algn="just">
              <a:lnSpc>
                <a:spcPct val="150000"/>
              </a:lnSpc>
              <a:spcAft>
                <a:spcPts val="800"/>
              </a:spcAft>
              <a:buNone/>
            </a:pPr>
            <a:r>
              <a:rPr lang="en-GB" sz="2000" b="1" dirty="0">
                <a:effectLst/>
                <a:ea typeface="Calibri" panose="020F0502020204030204" pitchFamily="34" charset="0"/>
                <a:cs typeface="Times New Roman" panose="02020603050405020304" pitchFamily="18" charset="0"/>
              </a:rPr>
              <a:t>Policy design:</a:t>
            </a:r>
            <a:r>
              <a:rPr lang="en-GB" sz="2000" dirty="0">
                <a:effectLst/>
                <a:ea typeface="Calibri" panose="020F0502020204030204" pitchFamily="34" charset="0"/>
                <a:cs typeface="Times New Roman" panose="02020603050405020304" pitchFamily="18" charset="0"/>
              </a:rPr>
              <a:t> Mitigating barriers to renewable uptake most notably cost and complexity using subsidies, financing measures, or local programs has the potential to unleash big shifts to clean energy.</a:t>
            </a:r>
            <a:endParaRPr lang="en-IN" sz="2000" dirty="0">
              <a:effectLst/>
              <a:ea typeface="Calibri" panose="020F0502020204030204" pitchFamily="34" charset="0"/>
              <a:cs typeface="Times New Roman" panose="02020603050405020304" pitchFamily="18" charset="0"/>
            </a:endParaRPr>
          </a:p>
          <a:p>
            <a:pPr algn="just">
              <a:lnSpc>
                <a:spcPct val="150000"/>
              </a:lnSpc>
              <a:spcAft>
                <a:spcPts val="800"/>
              </a:spcAft>
            </a:pPr>
            <a:r>
              <a:rPr lang="en-GB" sz="2000" b="1" dirty="0">
                <a:effectLst/>
                <a:ea typeface="Calibri" panose="020F0502020204030204" pitchFamily="34" charset="0"/>
                <a:cs typeface="Times New Roman" panose="02020603050405020304" pitchFamily="18" charset="0"/>
              </a:rPr>
              <a:t>Model innovation: </a:t>
            </a:r>
            <a:r>
              <a:rPr lang="en-GB" sz="2000" dirty="0">
                <a:effectLst/>
                <a:ea typeface="Calibri" panose="020F0502020204030204" pitchFamily="34" charset="0"/>
                <a:cs typeface="Times New Roman" panose="02020603050405020304" pitchFamily="18" charset="0"/>
              </a:rPr>
              <a:t>Investigation into state-of-the-art architectures like Transformers, Graph Neural Networks, or ensemble hybrid models has the potential to advance the accuracy of forecasts to new heights.</a:t>
            </a:r>
            <a:endParaRPr lang="en-IN" sz="2000" dirty="0">
              <a:effectLs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75693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TotalTime>
  <Words>978</Words>
  <Application>Microsoft Office PowerPoint</Application>
  <PresentationFormat>Widescreen</PresentationFormat>
  <Paragraphs>98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Sitka Banner Semibold</vt:lpstr>
      <vt:lpstr>Symbol</vt:lpstr>
      <vt:lpstr>Times New Roman</vt:lpstr>
      <vt:lpstr>Office Theme</vt:lpstr>
      <vt:lpstr>Household Load forecasting Based on Machine Learning Algorithm</vt:lpstr>
      <vt:lpstr>Introduction</vt:lpstr>
      <vt:lpstr>Model Selection</vt:lpstr>
      <vt:lpstr>Problem Statement</vt:lpstr>
      <vt:lpstr>Research Aim &amp; Objectives </vt:lpstr>
      <vt:lpstr>Literature Review</vt:lpstr>
      <vt:lpstr>Methodology</vt:lpstr>
      <vt:lpstr>Data Collection</vt:lpstr>
      <vt:lpstr>Architecture</vt:lpstr>
      <vt:lpstr>Data Cleaning</vt:lpstr>
      <vt:lpstr>Data Visualisation</vt:lpstr>
      <vt:lpstr>Results</vt:lpstr>
      <vt:lpstr>Results</vt:lpstr>
      <vt:lpstr>Conclusion</vt:lpstr>
      <vt:lpstr>Limitations and Areas for Future Research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Gopika Chandran</dc:creator>
  <cp:lastModifiedBy>Gopika Chandran</cp:lastModifiedBy>
  <cp:revision>66</cp:revision>
  <dcterms:created xsi:type="dcterms:W3CDTF">2025-05-06T08:58:39Z</dcterms:created>
  <dcterms:modified xsi:type="dcterms:W3CDTF">2025-05-11T22:45:14Z</dcterms:modified>
</cp:coreProperties>
</file>